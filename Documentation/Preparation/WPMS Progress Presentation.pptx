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sldIdLst>
    <p:sldId id="256" r:id="rId2"/>
    <p:sldId id="257" r:id="rId3"/>
    <p:sldId id="258" r:id="rId4"/>
    <p:sldId id="259" r:id="rId5"/>
    <p:sldId id="260" r:id="rId6"/>
    <p:sldId id="271" r:id="rId7"/>
    <p:sldId id="261" r:id="rId8"/>
    <p:sldId id="262" r:id="rId9"/>
    <p:sldId id="27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3" r:id="rId19"/>
    <p:sldId id="276" r:id="rId20"/>
    <p:sldId id="274" r:id="rId21"/>
    <p:sldId id="275" r:id="rId22"/>
    <p:sldId id="277" r:id="rId23"/>
    <p:sldId id="278" r:id="rId24"/>
    <p:sldId id="279" r:id="rId25"/>
    <p:sldId id="280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540" autoAdjust="0"/>
    <p:restoredTop sz="94660"/>
  </p:normalViewPr>
  <p:slideViewPr>
    <p:cSldViewPr snapToGrid="0">
      <p:cViewPr varScale="1">
        <p:scale>
          <a:sx n="45" d="100"/>
          <a:sy n="45" d="100"/>
        </p:scale>
        <p:origin x="62" y="9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20834" y="1346946"/>
            <a:ext cx="10222992" cy="80683"/>
          </a:xfrm>
          <a:prstGeom prst="rect">
            <a:avLst/>
          </a:prstGeom>
          <a:blipFill dpi="0" rotWithShape="1">
            <a:blip r:embed="rId2">
              <a:alphaModFix amt="83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920834" y="4299696"/>
            <a:ext cx="10222992" cy="80683"/>
          </a:xfrm>
          <a:prstGeom prst="rect">
            <a:avLst/>
          </a:prstGeom>
          <a:blipFill dpi="0" rotWithShape="1">
            <a:blip r:embed="rId2">
              <a:alphaModFix amt="83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920834" y="1484779"/>
            <a:ext cx="10222992" cy="2743200"/>
          </a:xfrm>
          <a:prstGeom prst="rect">
            <a:avLst/>
          </a:prstGeom>
          <a:blipFill dpi="0" rotWithShape="1">
            <a:blip r:embed="rId2">
              <a:alphaModFix amt="83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10" name="Group 9"/>
          <p:cNvGrpSpPr/>
          <p:nvPr/>
        </p:nvGrpSpPr>
        <p:grpSpPr>
          <a:xfrm>
            <a:off x="9649215" y="4068923"/>
            <a:ext cx="1080904" cy="1080902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51560" y="1432223"/>
            <a:ext cx="9966960" cy="3035808"/>
          </a:xfrm>
        </p:spPr>
        <p:txBody>
          <a:bodyPr anchor="ctr">
            <a:noAutofit/>
          </a:bodyPr>
          <a:lstStyle>
            <a:lvl1pPr algn="l">
              <a:lnSpc>
                <a:spcPct val="85000"/>
              </a:lnSpc>
              <a:defRPr sz="7200" b="1" cap="none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69848" y="4389120"/>
            <a:ext cx="7891272" cy="1069848"/>
          </a:xfrm>
        </p:spPr>
        <p:txBody>
          <a:bodyPr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3DC3CD-1FBD-4175-A49E-C6F4C28120C4}" type="datetimeFigureOut">
              <a:rPr lang="en-US" smtClean="0"/>
              <a:t>9/20/2026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592733" y="4289334"/>
            <a:ext cx="1193868" cy="640080"/>
          </a:xfrm>
        </p:spPr>
        <p:txBody>
          <a:bodyPr/>
          <a:lstStyle>
            <a:lvl1pPr>
              <a:defRPr sz="2800" b="1"/>
            </a:lvl1pPr>
          </a:lstStyle>
          <a:p>
            <a:fld id="{F0197C2A-C4AE-4CD4-B20D-B8115E0A69E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03917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3DC3CD-1FBD-4175-A49E-C6F4C28120C4}" type="datetimeFigureOut">
              <a:rPr lang="en-US" smtClean="0"/>
              <a:t>9/20/2026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97C2A-C4AE-4CD4-B20D-B8115E0A69E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75304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7989"/>
            <a:ext cx="12192000" cy="1940010"/>
          </a:xfrm>
          <a:prstGeom prst="rect">
            <a:avLst/>
          </a:prstGeom>
          <a:blipFill dpi="0" rotWithShape="1">
            <a:blip r:embed="rId2">
              <a:alphaModFix amt="83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8" y="1225296"/>
            <a:ext cx="9281160" cy="3520440"/>
          </a:xfrm>
        </p:spPr>
        <p:txBody>
          <a:bodyPr anchor="ctr">
            <a:normAutofit/>
          </a:bodyPr>
          <a:lstStyle>
            <a:lvl1pPr>
              <a:lnSpc>
                <a:spcPct val="85000"/>
              </a:lnSpc>
              <a:defRPr sz="7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65774" y="5020056"/>
            <a:ext cx="9052560" cy="1066800"/>
          </a:xfrm>
        </p:spPr>
        <p:txBody>
          <a:bodyPr anchor="t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93667" y="6272784"/>
            <a:ext cx="2644309" cy="365125"/>
          </a:xfrm>
        </p:spPr>
        <p:txBody>
          <a:bodyPr/>
          <a:lstStyle/>
          <a:p>
            <a:fld id="{943DC3CD-1FBD-4175-A49E-C6F4C28120C4}" type="datetimeFigureOut">
              <a:rPr lang="en-US" smtClean="0"/>
              <a:t>9/20/2026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182708" y="6272784"/>
            <a:ext cx="6327648" cy="365125"/>
          </a:xfrm>
        </p:spPr>
        <p:txBody>
          <a:bodyPr/>
          <a:lstStyle/>
          <a:p>
            <a:endParaRPr lang="en-US" dirty="0"/>
          </a:p>
        </p:txBody>
      </p:sp>
      <p:grpSp>
        <p:nvGrpSpPr>
          <p:cNvPr id="8" name="Group 7"/>
          <p:cNvGrpSpPr/>
          <p:nvPr/>
        </p:nvGrpSpPr>
        <p:grpSpPr>
          <a:xfrm>
            <a:off x="897399" y="2325848"/>
            <a:ext cx="1080904" cy="1080902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3702" y="2506133"/>
            <a:ext cx="1188298" cy="720332"/>
          </a:xfrm>
        </p:spPr>
        <p:txBody>
          <a:bodyPr/>
          <a:lstStyle>
            <a:lvl1pPr>
              <a:defRPr sz="2800"/>
            </a:lvl1pPr>
          </a:lstStyle>
          <a:p>
            <a:fld id="{F0197C2A-C4AE-4CD4-B20D-B8115E0A69E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98662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9848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64224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3DC3CD-1FBD-4175-A49E-C6F4C28120C4}" type="datetimeFigureOut">
              <a:rPr lang="en-US" smtClean="0"/>
              <a:t>9/20/2026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97C2A-C4AE-4CD4-B20D-B8115E0A69E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95913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4224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4224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3DC3CD-1FBD-4175-A49E-C6F4C28120C4}" type="datetimeFigureOut">
              <a:rPr lang="en-US" smtClean="0"/>
              <a:t>9/20/2026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97C2A-C4AE-4CD4-B20D-B8115E0A69E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04842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3DC3CD-1FBD-4175-A49E-C6F4C28120C4}" type="datetimeFigureOut">
              <a:rPr lang="en-US" smtClean="0"/>
              <a:t>9/20/2026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97C2A-C4AE-4CD4-B20D-B8115E0A69E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68650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3DC3CD-1FBD-4175-A49E-C6F4C28120C4}" type="datetimeFigureOut">
              <a:rPr lang="en-US" smtClean="0"/>
              <a:t>9/20/2026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97C2A-C4AE-4CD4-B20D-B8115E0A69E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0665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685800"/>
            <a:ext cx="6711696" cy="502005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3DC3CD-1FBD-4175-A49E-C6F4C28120C4}" type="datetimeFigureOut">
              <a:rPr lang="en-US" smtClean="0"/>
              <a:t>9/20/2026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9" name="Group 8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10" name="Oval 9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1" name="Oval 10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97C2A-C4AE-4CD4-B20D-B8115E0A69E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36398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8303740" cy="6858000"/>
          </a:xfrm>
          <a:solidFill>
            <a:schemeClr val="tx2">
              <a:lumMod val="20000"/>
              <a:lumOff val="80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3DC3CD-1FBD-4175-A49E-C6F4C28120C4}" type="datetimeFigureOut">
              <a:rPr lang="en-US" smtClean="0"/>
              <a:t>9/20/2026</a:t>
            </a:fld>
            <a:endParaRPr lang="en-US" dirty="0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9" name="Oval 8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97C2A-C4AE-4CD4-B20D-B8115E0A69E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55622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3DC3CD-1FBD-4175-A49E-C6F4C28120C4}" type="datetimeFigureOut">
              <a:rPr lang="en-US" smtClean="0"/>
              <a:t>9/20/2026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97C2A-C4AE-4CD4-B20D-B8115E0A69E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15308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533400"/>
            <a:ext cx="2552700" cy="5638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66800" y="533400"/>
            <a:ext cx="7505700" cy="5638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3DC3CD-1FBD-4175-A49E-C6F4C28120C4}" type="datetimeFigureOut">
              <a:rPr lang="en-US" smtClean="0"/>
              <a:t>9/20/2026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97C2A-C4AE-4CD4-B20D-B8115E0A69E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7103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1609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121408"/>
            <a:ext cx="10058400" cy="4050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64424" y="6272784"/>
            <a:ext cx="32735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fld id="{943DC3CD-1FBD-4175-A49E-C6F4C28120C4}" type="datetimeFigureOut">
              <a:rPr lang="en-US" smtClean="0"/>
              <a:t>9/20/2026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88136" y="6272784"/>
            <a:ext cx="63276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1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311128" y="6272784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rgbClr val="FFFFFF"/>
                </a:solidFill>
                <a:latin typeface="+mn-lt"/>
              </a:defRPr>
            </a:lvl1pPr>
          </a:lstStyle>
          <a:p>
            <a:fld id="{F0197C2A-C4AE-4CD4-B20D-B8115E0A69E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06789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b="1" kern="1200" cap="none" baseline="0">
          <a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8B695-8D80-4194-97F9-2618E29B31A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WPMS Progress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CF1CCB-7CE1-4826-B7FE-25C61C84B5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51559" y="4702885"/>
            <a:ext cx="10394207" cy="1069848"/>
          </a:xfrm>
        </p:spPr>
        <p:txBody>
          <a:bodyPr>
            <a:normAutofit/>
          </a:bodyPr>
          <a:lstStyle/>
          <a:p>
            <a:r>
              <a:rPr lang="en-US" dirty="0"/>
              <a:t>By Group: </a:t>
            </a:r>
            <a:r>
              <a:rPr lang="en-US" dirty="0" err="1"/>
              <a:t>BananaMen</a:t>
            </a:r>
            <a:endParaRPr lang="en-US" dirty="0"/>
          </a:p>
          <a:p>
            <a:r>
              <a:rPr lang="en-US" sz="1800" dirty="0"/>
              <a:t>Members: </a:t>
            </a:r>
            <a:r>
              <a:rPr lang="es-ES" sz="1800" dirty="0"/>
              <a:t>Aman Kumar </a:t>
            </a:r>
            <a:r>
              <a:rPr lang="es-ES" sz="1800" dirty="0" err="1"/>
              <a:t>Yadav</a:t>
            </a:r>
            <a:r>
              <a:rPr lang="es-ES" sz="1800" dirty="0"/>
              <a:t>, </a:t>
            </a:r>
            <a:r>
              <a:rPr lang="es-ES" sz="1800" dirty="0" err="1"/>
              <a:t>Ashwin</a:t>
            </a:r>
            <a:r>
              <a:rPr lang="es-ES" sz="1800" dirty="0"/>
              <a:t> </a:t>
            </a:r>
            <a:r>
              <a:rPr lang="es-ES" sz="1800" dirty="0" err="1"/>
              <a:t>Pokharel</a:t>
            </a:r>
            <a:r>
              <a:rPr lang="es-ES" sz="1800" dirty="0"/>
              <a:t>, </a:t>
            </a:r>
            <a:r>
              <a:rPr lang="es-ES" sz="1800" dirty="0" err="1"/>
              <a:t>Salon</a:t>
            </a:r>
            <a:r>
              <a:rPr lang="es-ES" sz="1800" dirty="0"/>
              <a:t> </a:t>
            </a:r>
            <a:r>
              <a:rPr lang="es-ES" sz="1800" dirty="0" err="1"/>
              <a:t>Rai,Unique</a:t>
            </a:r>
            <a:r>
              <a:rPr lang="es-ES" sz="1800" dirty="0"/>
              <a:t> Dhungana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7874021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F5606-AEC2-4123-BDE0-EA7B29794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		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CD6691-27C5-4E20-9D00-D320F941FA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92500" lnSpcReduction="20000"/>
          </a:bodyPr>
          <a:lstStyle/>
          <a:p>
            <a:pPr marL="342900" indent="-342900" algn="just">
              <a:buFont typeface="+mj-lt"/>
              <a:buAutoNum type="arabicPeriod"/>
            </a:pPr>
            <a:r>
              <a:rPr lang="en-US" sz="1800" dirty="0"/>
              <a:t>Project Context 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800" dirty="0"/>
              <a:t>Problem Statement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800" dirty="0"/>
              <a:t>Motivation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800" dirty="0"/>
              <a:t>Aims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800" dirty="0"/>
              <a:t>Objectives 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800" dirty="0"/>
              <a:t>Systems Investigated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800" dirty="0"/>
              <a:t>Feature Comparison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800" dirty="0"/>
              <a:t>Technology Comparison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800" dirty="0"/>
              <a:t>Literature/Comparative Study Findings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800" dirty="0"/>
              <a:t>Methodology 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800" dirty="0"/>
              <a:t>Requirement Elicitation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800" dirty="0"/>
              <a:t>Elicitation Findings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800" dirty="0"/>
              <a:t>System Requirements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800" dirty="0"/>
              <a:t>Problem Domains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800" dirty="0"/>
              <a:t>System Design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800" dirty="0"/>
              <a:t>System Architecture Diagram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800" dirty="0"/>
              <a:t>Activity Diagram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800" dirty="0"/>
              <a:t>Use Case Diagram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800" dirty="0"/>
              <a:t>Current Progress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800" dirty="0"/>
              <a:t>Next Steps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800" dirty="0"/>
              <a:t>Summary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800" dirty="0"/>
              <a:t>Q &amp; A</a:t>
            </a:r>
          </a:p>
          <a:p>
            <a:pPr marL="342900" indent="-342900" algn="just">
              <a:buFont typeface="+mj-lt"/>
              <a:buAutoNum type="arabicPeriod"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159455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01FC5B-2331-4934-A187-04F7B43F7E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Context</a:t>
            </a: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739C28AC-A218-49A7-97F1-3A9A484B13D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69848" y="2495799"/>
            <a:ext cx="9788892" cy="2949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Web-based Work Progress Management System (WPMS) </a:t>
            </a:r>
          </a:p>
          <a:p>
            <a:pPr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lang="en-US" altLang="en-US" sz="1800" dirty="0">
              <a:latin typeface="Arial" panose="020B0604020202020204" pitchFamily="34" charset="0"/>
            </a:endParaRPr>
          </a:p>
          <a:p>
            <a:pPr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Bridges individual productivity and team/organizational coordination </a:t>
            </a:r>
          </a:p>
          <a:p>
            <a:pPr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Provide a unified workspace</a:t>
            </a:r>
          </a:p>
          <a:p>
            <a:pPr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1800">
                <a:latin typeface="Arial" panose="020B0604020202020204" pitchFamily="34" charset="0"/>
              </a:rPr>
              <a:t>I</a:t>
            </a:r>
            <a:r>
              <a:rPr kumimoji="0" lang="en-US" altLang="en-US" sz="180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ndividual 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 to small collaborative teams</a:t>
            </a:r>
          </a:p>
        </p:txBody>
      </p:sp>
    </p:spTree>
    <p:extLst>
      <p:ext uri="{BB962C8B-B14F-4D97-AF65-F5344CB8AC3E}">
        <p14:creationId xmlns:p14="http://schemas.microsoft.com/office/powerpoint/2010/main" val="205161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298AA-805C-449B-BC4C-CA84BB462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Statement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C826DDF-5ABC-44A6-92E7-1C01A90CCDE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69848" y="2596992"/>
            <a:ext cx="9720072" cy="27417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Fragmented tools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Limited personal insight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Scalability gap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Performance verification gap</a:t>
            </a:r>
          </a:p>
        </p:txBody>
      </p:sp>
    </p:spTree>
    <p:extLst>
      <p:ext uri="{BB962C8B-B14F-4D97-AF65-F5344CB8AC3E}">
        <p14:creationId xmlns:p14="http://schemas.microsoft.com/office/powerpoint/2010/main" val="24540111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815C0-EA7D-4122-A765-C9C61F2DF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3FEBBEC-7141-40B6-AA77-BD2457E14F0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69848" y="2466817"/>
            <a:ext cx="10058400" cy="27417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Provide single environment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Work patterns, progress and productivity </a:t>
            </a:r>
            <a:r>
              <a:rPr lang="en-US" altLang="en-US" sz="1800" dirty="0">
                <a:latin typeface="Arial" panose="020B0604020202020204" pitchFamily="34" charset="0"/>
              </a:rPr>
              <a:t>v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isibility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Support </a:t>
            </a:r>
            <a:r>
              <a:rPr lang="en-US" altLang="en-US" sz="1800" dirty="0">
                <a:latin typeface="Arial" panose="020B0604020202020204" pitchFamily="34" charset="0"/>
              </a:rPr>
              <a:t>P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ersonal work and collaborative projects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1800" dirty="0">
                <a:latin typeface="Arial" panose="020B0604020202020204" pitchFamily="34" charset="0"/>
              </a:rPr>
              <a:t>S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calable proof-of-concept/MVP</a:t>
            </a:r>
          </a:p>
        </p:txBody>
      </p:sp>
    </p:spTree>
    <p:extLst>
      <p:ext uri="{BB962C8B-B14F-4D97-AF65-F5344CB8AC3E}">
        <p14:creationId xmlns:p14="http://schemas.microsoft.com/office/powerpoint/2010/main" val="26345606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C31D3-468C-4F68-9814-78A3EAB2C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AIMS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8B8A671-FF73-4B3D-B155-913AFC91D13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69848" y="2582875"/>
            <a:ext cx="5486117" cy="27417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Combine task, project and progress management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Provide individual and collaborative workspaces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Support work-hour and performance insight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Establish a foundation for future scalability </a:t>
            </a:r>
          </a:p>
        </p:txBody>
      </p:sp>
    </p:spTree>
    <p:extLst>
      <p:ext uri="{BB962C8B-B14F-4D97-AF65-F5344CB8AC3E}">
        <p14:creationId xmlns:p14="http://schemas.microsoft.com/office/powerpoint/2010/main" val="28400158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8D2891-5050-4F01-AADF-0F16F750F8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Objectives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BE484DA-9239-42F2-B316-56CA367A104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69848" y="2197232"/>
            <a:ext cx="2821029" cy="34342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Unify work management</a:t>
            </a:r>
          </a:p>
          <a:p>
            <a:pPr marL="0" marR="0" lvl="0" indent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Track individual progress</a:t>
            </a:r>
            <a:endParaRPr lang="en-US" alt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Enable collaboration: </a:t>
            </a:r>
          </a:p>
          <a:p>
            <a:pPr marL="0" marR="0" lvl="0" indent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Design for scalability: </a:t>
            </a:r>
          </a:p>
          <a:p>
            <a:pPr marL="0" marR="0" lvl="0" indent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Provide work evidence:</a:t>
            </a:r>
          </a:p>
        </p:txBody>
      </p:sp>
    </p:spTree>
    <p:extLst>
      <p:ext uri="{BB962C8B-B14F-4D97-AF65-F5344CB8AC3E}">
        <p14:creationId xmlns:p14="http://schemas.microsoft.com/office/powerpoint/2010/main" val="8293936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1C4F2-EA07-4DD7-8122-817C4B23B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Systems Investigated 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84BB367-CA81-44B6-8D93-35A47BBA777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 sz="4000" dirty="0"/>
          </a:p>
          <a:p>
            <a:endParaRPr lang="en-US" sz="4000" dirty="0"/>
          </a:p>
          <a:p>
            <a:pPr lvl="5"/>
            <a:endParaRPr lang="en-US" sz="3600" dirty="0"/>
          </a:p>
          <a:p>
            <a:pPr lvl="5"/>
            <a:r>
              <a:rPr lang="en-US" sz="3600" dirty="0"/>
              <a:t>Trello </a:t>
            </a:r>
          </a:p>
          <a:p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22B7BF6-D063-441C-967C-E1CE4938444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 sz="3600" dirty="0"/>
          </a:p>
          <a:p>
            <a:endParaRPr lang="en-US" sz="3600" dirty="0"/>
          </a:p>
          <a:p>
            <a:endParaRPr lang="en-US" sz="3600" dirty="0"/>
          </a:p>
          <a:p>
            <a:pPr lvl="5"/>
            <a:r>
              <a:rPr lang="en-US" sz="3200" dirty="0"/>
              <a:t>Asana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16421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73772C-2A59-460B-A657-3A88D706E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Comparison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2BA3BB-C759-4D68-BB91-A285803923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Asana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B10ADF-C370-413A-9E28-1E259893167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Trello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4F7A28C1-071E-4529-BDAD-A6EFBFFF427B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1069848" y="3312638"/>
            <a:ext cx="4806444" cy="21529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Tasks, subtasks, projects and multiple project views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Dashboards, search/filtering and collaboration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Comments, mentions, notifications and file attachments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Automation and connected project information </a:t>
            </a: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62371C9F-A5BD-45A7-9604-D1728598EF97}"/>
              </a:ext>
            </a:extLst>
          </p:cNvPr>
          <p:cNvSpPr>
            <a:spLocks noGrp="1" noChangeArrowheads="1"/>
          </p:cNvSpPr>
          <p:nvPr>
            <p:ph sz="quarter" idx="4"/>
          </p:nvPr>
        </p:nvSpPr>
        <p:spPr bwMode="auto">
          <a:xfrm>
            <a:off x="6364224" y="3312638"/>
            <a:ext cx="5115824" cy="21529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Boards → lists → cards as the central organisational model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Drag-and-drop task management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Comments, tagging, attachments and notifications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Power-Ups and extensions for additional functionality</a:t>
            </a:r>
          </a:p>
        </p:txBody>
      </p:sp>
    </p:spTree>
    <p:extLst>
      <p:ext uri="{BB962C8B-B14F-4D97-AF65-F5344CB8AC3E}">
        <p14:creationId xmlns:p14="http://schemas.microsoft.com/office/powerpoint/2010/main" val="26346452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A3EFEB-343B-4A8D-9F3B-D5843D261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Technology Comparison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AEAF1A-35BB-461F-B8E9-FD691CA09B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Asana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468D85B-9DFF-4DC6-9DFC-7ED003D709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Trello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4C156157-1935-4423-B60F-0A22215D41F4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1030392" y="3312639"/>
            <a:ext cx="5333832" cy="21529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React / TypeScript frontend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Multiple backend technologies and services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MySQL-backed persistence with caching/search infrastructure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Distributed infrastructure supporting large-scale operation </a:t>
            </a:r>
          </a:p>
        </p:txBody>
      </p:sp>
      <p:sp>
        <p:nvSpPr>
          <p:cNvPr id="14" name="Rectangle 7">
            <a:extLst>
              <a:ext uri="{FF2B5EF4-FFF2-40B4-BE49-F238E27FC236}">
                <a16:creationId xmlns:a16="http://schemas.microsoft.com/office/drawing/2014/main" id="{F2B9E0ED-A895-4846-A97A-867946B58E02}"/>
              </a:ext>
            </a:extLst>
          </p:cNvPr>
          <p:cNvSpPr>
            <a:spLocks noGrp="1" noChangeArrowheads="1"/>
          </p:cNvSpPr>
          <p:nvPr>
            <p:ph sz="quarter" idx="4"/>
          </p:nvPr>
        </p:nvSpPr>
        <p:spPr bwMode="auto">
          <a:xfrm>
            <a:off x="6364288" y="3312957"/>
            <a:ext cx="4202112" cy="21529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Web-based application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Node.js backend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React-based frontend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Cloud-based services &amp; integrations </a:t>
            </a:r>
          </a:p>
        </p:txBody>
      </p:sp>
    </p:spTree>
    <p:extLst>
      <p:ext uri="{BB962C8B-B14F-4D97-AF65-F5344CB8AC3E}">
        <p14:creationId xmlns:p14="http://schemas.microsoft.com/office/powerpoint/2010/main" val="39535015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97A28-6CF5-4F0D-AC7B-278CEE77A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Literature/Comparative Study Findings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EE82417-B766-4E0A-8463-E69A0F7F431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69848" y="2765755"/>
            <a:ext cx="9730869" cy="27417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single source of truth can support multiple task/project views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Dashboards can derive useful insights from structured task and time data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Collaboration can be supported through comments, mentions, notifications and activity logs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Advanced features should be adapted to the MVP's scale and technical constraints </a:t>
            </a:r>
          </a:p>
        </p:txBody>
      </p:sp>
    </p:spTree>
    <p:extLst>
      <p:ext uri="{BB962C8B-B14F-4D97-AF65-F5344CB8AC3E}">
        <p14:creationId xmlns:p14="http://schemas.microsoft.com/office/powerpoint/2010/main" val="32413696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B359E4-2B82-49C0-AE14-045010A3E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Methodology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2EECC24-A6E2-4153-BC28-4697C35DF84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69848" y="2765756"/>
            <a:ext cx="8717771" cy="27417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Waterfall Hybrid SDLC used as the overall development approach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Requirements were investigated before system design and implementation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Questionnaire/survey used to gather broader perspectives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Interview used to explore professional/project-work requirements in greater depth </a:t>
            </a:r>
          </a:p>
        </p:txBody>
      </p:sp>
    </p:spTree>
    <p:extLst>
      <p:ext uri="{BB962C8B-B14F-4D97-AF65-F5344CB8AC3E}">
        <p14:creationId xmlns:p14="http://schemas.microsoft.com/office/powerpoint/2010/main" val="17543461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7D36C-9E4B-476F-AC15-C597C7C2A3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Requirements Elicitation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26A1D72-5045-437B-8F4B-DF9193C2CF4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69848" y="2775916"/>
            <a:ext cx="8666475" cy="27417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Survey focused on people involved in collaborative and individual work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Areas included students, freelancers, contractors and creative/collaborative work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An interview was conducted with a small startup company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Findings were compared with the comparative technology study </a:t>
            </a:r>
          </a:p>
        </p:txBody>
      </p:sp>
    </p:spTree>
    <p:extLst>
      <p:ext uri="{BB962C8B-B14F-4D97-AF65-F5344CB8AC3E}">
        <p14:creationId xmlns:p14="http://schemas.microsoft.com/office/powerpoint/2010/main" val="21265036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16C51-1499-4C47-ABF8-E711269E1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Elicitation Findings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AB7E483C-F3C4-48B2-875B-D92D8F07B84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63752" y="2748484"/>
            <a:ext cx="9576981" cy="27417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Users need a personal workspace alongside collaborative project spaces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Task management needs to include dependencies, deadlines and progress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Work hours and progress should be connected to the work being completed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Collaboration requires comments, shared workspaces, notifications and controlled access </a:t>
            </a:r>
          </a:p>
        </p:txBody>
      </p:sp>
    </p:spTree>
    <p:extLst>
      <p:ext uri="{BB962C8B-B14F-4D97-AF65-F5344CB8AC3E}">
        <p14:creationId xmlns:p14="http://schemas.microsoft.com/office/powerpoint/2010/main" val="28671109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6D026-14EB-4275-AA37-927D4B95C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Rquirements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54B48D-8C8D-4738-8724-1A324E2112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250000"/>
              </a:lnSpc>
            </a:pPr>
            <a:r>
              <a:rPr lang="en-US" dirty="0"/>
              <a:t>Personal &amp; Task Management</a:t>
            </a:r>
          </a:p>
          <a:p>
            <a:pPr>
              <a:lnSpc>
                <a:spcPct val="250000"/>
              </a:lnSpc>
            </a:pPr>
            <a:r>
              <a:rPr lang="en-US" dirty="0"/>
              <a:t>Progress &amp; Work Hours</a:t>
            </a:r>
          </a:p>
          <a:p>
            <a:pPr>
              <a:lnSpc>
                <a:spcPct val="250000"/>
              </a:lnSpc>
            </a:pPr>
            <a:r>
              <a:rPr lang="en-US" dirty="0"/>
              <a:t>Collaboration</a:t>
            </a:r>
          </a:p>
          <a:p>
            <a:pPr>
              <a:lnSpc>
                <a:spcPct val="250000"/>
              </a:lnSpc>
            </a:pPr>
            <a:r>
              <a:rPr lang="en-US" dirty="0"/>
              <a:t>Access &amp; Evidence</a:t>
            </a:r>
          </a:p>
        </p:txBody>
      </p:sp>
    </p:spTree>
    <p:extLst>
      <p:ext uri="{BB962C8B-B14F-4D97-AF65-F5344CB8AC3E}">
        <p14:creationId xmlns:p14="http://schemas.microsoft.com/office/powerpoint/2010/main" val="32034711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0762FE-5950-414B-9E2C-52AF699E7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Domains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66EF7F6-C030-4711-A4B3-F9F755EDDA2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69848" y="2449988"/>
            <a:ext cx="4618700" cy="34342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User Identity &amp; Access Management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Task Lifecycle &amp; Context Aggregation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Dependency &amp; Dynamic Timeline Engine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Workload Capacity &amp; SLA Effort Tracking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Analytics &amp; Performance Metrics Engine </a:t>
            </a:r>
          </a:p>
        </p:txBody>
      </p:sp>
    </p:spTree>
    <p:extLst>
      <p:ext uri="{BB962C8B-B14F-4D97-AF65-F5344CB8AC3E}">
        <p14:creationId xmlns:p14="http://schemas.microsoft.com/office/powerpoint/2010/main" val="29173439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9BB4B-D983-4001-BC34-A47995468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Design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ADC51022-6E16-4E6B-A3BB-5744DA5C70E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66800" y="2748483"/>
            <a:ext cx="9979335" cy="27417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Design translates the identified requirements and domains into an implementable structure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Backend responsibilities are separated into distinct business domains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Database design connects users, tasks, projects, dependencies, work logs and analytics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Interface and navigation design provide access to these functions through the user's workflow </a:t>
            </a:r>
          </a:p>
        </p:txBody>
      </p:sp>
    </p:spTree>
    <p:extLst>
      <p:ext uri="{BB962C8B-B14F-4D97-AF65-F5344CB8AC3E}">
        <p14:creationId xmlns:p14="http://schemas.microsoft.com/office/powerpoint/2010/main" val="19862750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E2D546-CA73-45D0-A0A6-D15FEF08B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Architecture Diagram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8554BDD3-C15D-47B4-8319-C7563043D4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960" y="894004"/>
            <a:ext cx="7316555" cy="5069992"/>
          </a:xfrm>
        </p:spPr>
      </p:pic>
    </p:spTree>
    <p:extLst>
      <p:ext uri="{BB962C8B-B14F-4D97-AF65-F5344CB8AC3E}">
        <p14:creationId xmlns:p14="http://schemas.microsoft.com/office/powerpoint/2010/main" val="18053813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EFE563-F49D-4383-BC03-D03DEAD6A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Entity Relation Diagram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0EC794F-7E00-4C39-BCD2-26ECF34B94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6500" y="685800"/>
            <a:ext cx="4235350" cy="5019675"/>
          </a:xfrm>
        </p:spPr>
      </p:pic>
    </p:spTree>
    <p:extLst>
      <p:ext uri="{BB962C8B-B14F-4D97-AF65-F5344CB8AC3E}">
        <p14:creationId xmlns:p14="http://schemas.microsoft.com/office/powerpoint/2010/main" val="39301885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9AAEC-900E-4607-9FA9-DBD77A0FF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Diagram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2E06D310-418A-498E-844F-F10C80D5791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9435" y="638287"/>
            <a:ext cx="2751161" cy="5248928"/>
          </a:xfrm>
        </p:spPr>
      </p:pic>
    </p:spTree>
    <p:extLst>
      <p:ext uri="{BB962C8B-B14F-4D97-AF65-F5344CB8AC3E}">
        <p14:creationId xmlns:p14="http://schemas.microsoft.com/office/powerpoint/2010/main" val="6037897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3FDF5-2F72-4603-A666-73A705D20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 Diagram 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9D25131-D8A4-48D8-A3D4-657202F5C4C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887" y="1094966"/>
            <a:ext cx="6711950" cy="4668067"/>
          </a:xfrm>
        </p:spPr>
      </p:pic>
    </p:spTree>
    <p:extLst>
      <p:ext uri="{BB962C8B-B14F-4D97-AF65-F5344CB8AC3E}">
        <p14:creationId xmlns:p14="http://schemas.microsoft.com/office/powerpoint/2010/main" val="24489234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A493F9-CF2B-48B3-BC25-2F0FF515D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Progress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FE19CAC-1FD5-4663-80CD-7B10AF450E9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69848" y="2765756"/>
            <a:ext cx="8654100" cy="27417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Completed: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Requirement </a:t>
            </a:r>
            <a:r>
              <a:rPr lang="en-US" altLang="en-US" sz="1600" dirty="0">
                <a:latin typeface="Arial" panose="020B0604020202020204" pitchFamily="34" charset="0"/>
              </a:rPr>
              <a:t>G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athering, Tech </a:t>
            </a:r>
            <a:r>
              <a:rPr lang="en-US" altLang="en-US" sz="1600" dirty="0">
                <a:latin typeface="Arial" panose="020B0604020202020204" pitchFamily="34" charset="0"/>
              </a:rPr>
              <a:t>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tack </a:t>
            </a:r>
            <a:r>
              <a:rPr lang="en-US" altLang="en-US" sz="1600" dirty="0">
                <a:latin typeface="Arial" panose="020B0604020202020204" pitchFamily="34" charset="0"/>
              </a:rPr>
              <a:t>G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athering, Problem Domain Identification</a:t>
            </a:r>
          </a:p>
          <a:p>
            <a:pPr marL="0" marR="0" lvl="0" indent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 progress: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US" altLang="en-US" sz="1600" dirty="0">
                <a:latin typeface="Arial Unicode MS"/>
              </a:rPr>
              <a:t>Wireframe Drafting, Report Drafting, Database Implementation</a:t>
            </a:r>
          </a:p>
          <a:p>
            <a:pPr marL="0" marR="0" lvl="0" indent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Design completed: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US" altLang="en-US" sz="1600" dirty="0">
                <a:latin typeface="Arial Unicode MS"/>
              </a:rPr>
              <a:t>System Architecture, ERD, Activity Diagram and Use Case Diagram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Remaining: 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Backend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Implementation, Frontend Implementation, Testing, </a:t>
            </a: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23355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7F67C3-6D6E-4475-8EBF-49268E399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9E5A8E0-18F3-4B36-A52F-06D4259CF4F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69848" y="2775916"/>
            <a:ext cx="10058400" cy="27417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Complete core database and backend implementation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Implement task, project and collaboration workflows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Integrate progress, work-hour and dependency functionality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Test system behavior and refine the MVP </a:t>
            </a:r>
          </a:p>
        </p:txBody>
      </p:sp>
    </p:spTree>
    <p:extLst>
      <p:ext uri="{BB962C8B-B14F-4D97-AF65-F5344CB8AC3E}">
        <p14:creationId xmlns:p14="http://schemas.microsoft.com/office/powerpoint/2010/main" val="2359856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25DC4-1DFD-4FC6-A884-9A5E62D11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8130F10-A9D9-48A0-B66B-AABF0F59109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69848" y="2760151"/>
            <a:ext cx="3780522" cy="27417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Problem Identified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Research &amp; Elicitation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Requirements &amp; Domains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System Design &amp;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2717473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12A042D-321B-4746-83A3-B71D8C10D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				Q &amp; A</a:t>
            </a:r>
          </a:p>
        </p:txBody>
      </p:sp>
    </p:spTree>
    <p:extLst>
      <p:ext uri="{BB962C8B-B14F-4D97-AF65-F5344CB8AC3E}">
        <p14:creationId xmlns:p14="http://schemas.microsoft.com/office/powerpoint/2010/main" val="264873521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Wood Type">
  <a:themeElements>
    <a:clrScheme name="Wood Type">
      <a:dk1>
        <a:sysClr val="windowText" lastClr="000000"/>
      </a:dk1>
      <a:lt1>
        <a:sysClr val="window" lastClr="FFFFFF"/>
      </a:lt1>
      <a:dk2>
        <a:srgbClr val="775F55"/>
      </a:dk2>
      <a:lt2>
        <a:srgbClr val="EBDDC3"/>
      </a:lt2>
      <a:accent1>
        <a:srgbClr val="94B6D2"/>
      </a:accent1>
      <a:accent2>
        <a:srgbClr val="DD8047"/>
      </a:accent2>
      <a:accent3>
        <a:srgbClr val="A5AB81"/>
      </a:accent3>
      <a:accent4>
        <a:srgbClr val="D8B25C"/>
      </a:accent4>
      <a:accent5>
        <a:srgbClr val="7BA79D"/>
      </a:accent5>
      <a:accent6>
        <a:srgbClr val="968C8C"/>
      </a:accent6>
      <a:hlink>
        <a:srgbClr val="F7B615"/>
      </a:hlink>
      <a:folHlink>
        <a:srgbClr val="704404"/>
      </a:folHlink>
    </a:clrScheme>
    <a:fontScheme name="Wood Type">
      <a:majorFont>
        <a:latin typeface="Georgia" panose="020405020504050203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Trebuchet MS" panose="020B0603020202020204"/>
        <a:ea typeface=""/>
        <a:cs typeface=""/>
        <a:font script="Jpan" typeface="HG丸ｺﾞｼｯｸM-PRO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Wood Type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C6AE0645-98FF-411B-B0E9-59ABD78A0CC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Wood Type</Template>
  <TotalTime>302</TotalTime>
  <Words>649</Words>
  <Application>Microsoft Office PowerPoint</Application>
  <PresentationFormat>Widescreen</PresentationFormat>
  <Paragraphs>142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Arial</vt:lpstr>
      <vt:lpstr>Arial Unicode MS</vt:lpstr>
      <vt:lpstr>Georgia</vt:lpstr>
      <vt:lpstr>Trebuchet MS</vt:lpstr>
      <vt:lpstr>Wingdings</vt:lpstr>
      <vt:lpstr>Wood Type</vt:lpstr>
      <vt:lpstr>WPMS Progress Presentation</vt:lpstr>
      <vt:lpstr>  Table Of Contents</vt:lpstr>
      <vt:lpstr>Project Context</vt:lpstr>
      <vt:lpstr>Problem Statement</vt:lpstr>
      <vt:lpstr>Motivation</vt:lpstr>
      <vt:lpstr>AIMS</vt:lpstr>
      <vt:lpstr>Objectives</vt:lpstr>
      <vt:lpstr>Systems Investigated </vt:lpstr>
      <vt:lpstr>Feature Comparison</vt:lpstr>
      <vt:lpstr>Technology Comparison</vt:lpstr>
      <vt:lpstr>Literature/Comparative Study Findings</vt:lpstr>
      <vt:lpstr>Methodology</vt:lpstr>
      <vt:lpstr>Requirements Elicitation</vt:lpstr>
      <vt:lpstr>Elicitation Findings</vt:lpstr>
      <vt:lpstr>System Rquirements</vt:lpstr>
      <vt:lpstr>Problem Domains</vt:lpstr>
      <vt:lpstr>System Design</vt:lpstr>
      <vt:lpstr>System Architecture Diagram</vt:lpstr>
      <vt:lpstr>Entity Relation Diagram</vt:lpstr>
      <vt:lpstr>Activity Diagram</vt:lpstr>
      <vt:lpstr>Use Case Diagram </vt:lpstr>
      <vt:lpstr>Current Progress</vt:lpstr>
      <vt:lpstr>Next Steps</vt:lpstr>
      <vt:lpstr>Summary</vt:lpstr>
      <vt:lpstr>    Q &amp; 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WPMS Progress Presentation</dc:title>
  <dc:creator>LENOVO</dc:creator>
  <cp:lastModifiedBy>LENOVO</cp:lastModifiedBy>
  <cp:revision>11</cp:revision>
  <dcterms:created xsi:type="dcterms:W3CDTF">2026-09-19T07:32:28Z</dcterms:created>
  <dcterms:modified xsi:type="dcterms:W3CDTF">2026-09-20T03:04:36Z</dcterms:modified>
</cp:coreProperties>
</file>