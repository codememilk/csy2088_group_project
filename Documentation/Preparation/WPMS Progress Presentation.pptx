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72" r:id="rId10"/>
    <p:sldId id="263" r:id="rId11"/>
    <p:sldId id="264" r:id="rId12"/>
    <p:sldId id="265" r:id="rId13"/>
    <p:sldId id="287" r:id="rId14"/>
    <p:sldId id="266" r:id="rId15"/>
    <p:sldId id="267" r:id="rId16"/>
    <p:sldId id="268" r:id="rId17"/>
    <p:sldId id="269" r:id="rId18"/>
    <p:sldId id="270" r:id="rId19"/>
    <p:sldId id="273" r:id="rId20"/>
    <p:sldId id="276" r:id="rId21"/>
    <p:sldId id="274" r:id="rId22"/>
    <p:sldId id="275" r:id="rId23"/>
    <p:sldId id="277" r:id="rId24"/>
    <p:sldId id="278" r:id="rId25"/>
    <p:sldId id="286" r:id="rId26"/>
    <p:sldId id="282" r:id="rId27"/>
    <p:sldId id="283" r:id="rId28"/>
    <p:sldId id="284" r:id="rId29"/>
    <p:sldId id="285" r:id="rId30"/>
    <p:sldId id="279" r:id="rId31"/>
    <p:sldId id="28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5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39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53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6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9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8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6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66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63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56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3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10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43DC3CD-1FBD-4175-A49E-C6F4C28120C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F0197C2A-C4AE-4CD4-B20D-B8115E0A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7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B695-8D80-4194-97F9-2618E29B3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WPMS 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F1CCB-7CE1-4826-B7FE-25C61C84B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59" y="4702885"/>
            <a:ext cx="10394207" cy="1069848"/>
          </a:xfrm>
        </p:spPr>
        <p:txBody>
          <a:bodyPr>
            <a:normAutofit/>
          </a:bodyPr>
          <a:lstStyle/>
          <a:p>
            <a:r>
              <a:rPr lang="en-US" dirty="0"/>
              <a:t>By Group: </a:t>
            </a:r>
            <a:r>
              <a:rPr lang="en-US" dirty="0" err="1"/>
              <a:t>BananaMen</a:t>
            </a:r>
            <a:endParaRPr lang="en-US" dirty="0"/>
          </a:p>
          <a:p>
            <a:r>
              <a:rPr lang="en-US" sz="1800" dirty="0"/>
              <a:t>Members: </a:t>
            </a:r>
            <a:r>
              <a:rPr lang="es-ES" sz="1800" dirty="0"/>
              <a:t>Aman Kumar </a:t>
            </a:r>
            <a:r>
              <a:rPr lang="es-ES" sz="1800" dirty="0" err="1"/>
              <a:t>Yadav</a:t>
            </a:r>
            <a:r>
              <a:rPr lang="es-ES" sz="1800" dirty="0"/>
              <a:t>, </a:t>
            </a:r>
            <a:r>
              <a:rPr lang="es-ES" sz="1800" dirty="0" err="1"/>
              <a:t>Ashwin</a:t>
            </a:r>
            <a:r>
              <a:rPr lang="es-ES" sz="1800" dirty="0"/>
              <a:t> </a:t>
            </a:r>
            <a:r>
              <a:rPr lang="es-ES" sz="1800" dirty="0" err="1"/>
              <a:t>Pokharel</a:t>
            </a:r>
            <a:r>
              <a:rPr lang="es-ES" sz="1800" dirty="0"/>
              <a:t>, </a:t>
            </a:r>
            <a:r>
              <a:rPr lang="es-ES" sz="1800" dirty="0" err="1"/>
              <a:t>Salon</a:t>
            </a:r>
            <a:r>
              <a:rPr lang="es-ES" sz="1800" dirty="0"/>
              <a:t> </a:t>
            </a:r>
            <a:r>
              <a:rPr lang="es-ES" sz="1800" dirty="0" err="1"/>
              <a:t>Rai,Unique</a:t>
            </a:r>
            <a:r>
              <a:rPr lang="es-ES" sz="1800" dirty="0"/>
              <a:t> Dhungana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87402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5606-AEC2-4123-BDE0-EA7B2979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D6691-27C5-4E20-9D00-D320F941F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Project Context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Problem Statement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Motivation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Aims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Objectives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Systems Investigated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Feature Comparison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Technology Comparison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Literature/Comparative Study Findings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Methodology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Requirement Elicitation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Elicitation Findings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System Requirements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Problem Domains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System Design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System Architecture Diagram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Activity Diagram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Use Case Diagram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Current Progress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Next Steps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Summary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Q &amp; A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5945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FC5B-2331-4934-A187-04F7B43F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Context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39C28AC-A218-49A7-97F1-3A9A484B13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495799"/>
            <a:ext cx="978889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Work Progress Management System (WPMS)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Bridges individual productivity and team/organizational coordination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unified workspace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latin typeface="Arial" panose="020B0604020202020204" pitchFamily="34" charset="0"/>
              </a:rPr>
              <a:t>I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ndividual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to small collaborative teams</a:t>
            </a:r>
          </a:p>
        </p:txBody>
      </p:sp>
    </p:spTree>
    <p:extLst>
      <p:ext uri="{BB962C8B-B14F-4D97-AF65-F5344CB8AC3E}">
        <p14:creationId xmlns:p14="http://schemas.microsoft.com/office/powerpoint/2010/main" val="2051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98AA-805C-449B-BC4C-CA84BB46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826DDF-5ABC-44A6-92E7-1C01A90CCD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596992"/>
            <a:ext cx="9720072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Fragmented tools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personal insight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gap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verification gap</a:t>
            </a:r>
          </a:p>
        </p:txBody>
      </p:sp>
    </p:spTree>
    <p:extLst>
      <p:ext uri="{BB962C8B-B14F-4D97-AF65-F5344CB8AC3E}">
        <p14:creationId xmlns:p14="http://schemas.microsoft.com/office/powerpoint/2010/main" val="245401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15C0-EA7D-4122-A765-C9C61F2D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FEBBEC-7141-40B6-AA77-BD2457E14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466817"/>
            <a:ext cx="10058400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single environment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patterns, progress and productivity </a:t>
            </a:r>
            <a:r>
              <a:rPr lang="en-US" altLang="en-US" sz="1800" dirty="0">
                <a:latin typeface="Arial" panose="020B0604020202020204" pitchFamily="34" charset="0"/>
              </a:rPr>
              <a:t>v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isibility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lang="en-US" altLang="en-US" sz="1800" dirty="0">
                <a:latin typeface="Arial" panose="020B0604020202020204" pitchFamily="34" charset="0"/>
              </a:rPr>
              <a:t>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ersonal work and collaborative projects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calable proof-of-concept/MVP</a:t>
            </a:r>
          </a:p>
        </p:txBody>
      </p:sp>
    </p:spTree>
    <p:extLst>
      <p:ext uri="{BB962C8B-B14F-4D97-AF65-F5344CB8AC3E}">
        <p14:creationId xmlns:p14="http://schemas.microsoft.com/office/powerpoint/2010/main" val="263456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31D3-468C-4F68-9814-78A3EAB2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B8A671-FF73-4B3D-B155-913AFC91D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582875"/>
            <a:ext cx="5486117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task, project and progress management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individual and collaborative workspaces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work-hour and performance insight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a foundation for future scalability </a:t>
            </a:r>
          </a:p>
        </p:txBody>
      </p:sp>
    </p:spTree>
    <p:extLst>
      <p:ext uri="{BB962C8B-B14F-4D97-AF65-F5344CB8AC3E}">
        <p14:creationId xmlns:p14="http://schemas.microsoft.com/office/powerpoint/2010/main" val="284001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2891-5050-4F01-AADF-0F16F750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E484DA-9239-42F2-B316-56CA367A10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197232"/>
            <a:ext cx="2821029" cy="34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Unify work management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individual progress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collaboration: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scalability: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work evidence:</a:t>
            </a:r>
          </a:p>
        </p:txBody>
      </p:sp>
    </p:spTree>
    <p:extLst>
      <p:ext uri="{BB962C8B-B14F-4D97-AF65-F5344CB8AC3E}">
        <p14:creationId xmlns:p14="http://schemas.microsoft.com/office/powerpoint/2010/main" val="82939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C4F2-EA07-4DD7-8122-817C4B23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Investigated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4BB367-CA81-44B6-8D93-35A47BBA77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sz="4000" dirty="0"/>
          </a:p>
          <a:p>
            <a:endParaRPr lang="en-US" sz="4000" dirty="0"/>
          </a:p>
          <a:p>
            <a:pPr lvl="5"/>
            <a:endParaRPr lang="en-US" sz="3600" dirty="0"/>
          </a:p>
          <a:p>
            <a:pPr lvl="5"/>
            <a:r>
              <a:rPr lang="en-US" sz="3600" dirty="0"/>
              <a:t>Trello 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22B7BF6-D063-441C-967C-E1CE493844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lvl="5"/>
            <a:r>
              <a:rPr lang="en-US" sz="3200" dirty="0"/>
              <a:t>Asana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64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772C-2A59-460B-A657-3A88D706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BA3BB-C759-4D68-BB91-A28580392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Asana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10ADF-C370-413A-9E28-1E2598931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Trello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F7A28C1-071E-4529-BDAD-A6EFBFFF427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69848" y="3312638"/>
            <a:ext cx="4806444" cy="215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Tasks, subtasks, projects and multiple project views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Dashboards, search/filtering and collaboration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Comments, mentions, notifications and file attachments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and connected project information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371C9F-A5BD-45A7-9604-D1728598EF9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364224" y="3312638"/>
            <a:ext cx="5115824" cy="215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Boards → lists → cards as the central organisational model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Drag-and-drop task management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Comments, tagging, attachments and notifications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Power-Ups and extensions for additional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63464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EFEB-343B-4A8D-9F3B-D5843D26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EAF1A-35BB-461F-B8E9-FD691CA09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Asana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68D85B-9DFF-4DC6-9DFC-7ED003D70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Trello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C156157-1935-4423-B60F-0A22215D41F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30392" y="3312639"/>
            <a:ext cx="5333832" cy="215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/ TypeScript frontend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backend technologies and services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MySQL-backed persistence with caching/search infrastructure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infrastructure supporting large-scale operation 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2B9E0ED-A895-4846-A97A-867946B58E02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364288" y="3312957"/>
            <a:ext cx="4202112" cy="215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application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backend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React-based frontend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services &amp; integrations </a:t>
            </a:r>
          </a:p>
        </p:txBody>
      </p:sp>
    </p:spTree>
    <p:extLst>
      <p:ext uri="{BB962C8B-B14F-4D97-AF65-F5344CB8AC3E}">
        <p14:creationId xmlns:p14="http://schemas.microsoft.com/office/powerpoint/2010/main" val="3953501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7A28-6CF5-4F0D-AC7B-278CEE77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Literature/Comparative Study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E82417-B766-4E0A-8463-E69A0F7F43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765755"/>
            <a:ext cx="9730869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 source of truth can support multiple task/project views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can derive useful insights from structured task and time data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can be supported through comments, mentions, notifications and activity logs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features should be adapted to the MVP's scale and technical constraints </a:t>
            </a:r>
          </a:p>
        </p:txBody>
      </p:sp>
    </p:spTree>
    <p:extLst>
      <p:ext uri="{BB962C8B-B14F-4D97-AF65-F5344CB8AC3E}">
        <p14:creationId xmlns:p14="http://schemas.microsoft.com/office/powerpoint/2010/main" val="3241369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59E4-2B82-49C0-AE14-045010A3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0" y="2773680"/>
            <a:ext cx="3200400" cy="65532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CB11E6-D1EC-48E8-933B-BDC5EB82E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" y="681423"/>
            <a:ext cx="7143506" cy="5495154"/>
          </a:xfrm>
        </p:spPr>
      </p:pic>
    </p:spTree>
    <p:extLst>
      <p:ext uri="{BB962C8B-B14F-4D97-AF65-F5344CB8AC3E}">
        <p14:creationId xmlns:p14="http://schemas.microsoft.com/office/powerpoint/2010/main" val="1754346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03CD-01FC-4A00-B10A-BDC77D5F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080" y="2377440"/>
            <a:ext cx="3200400" cy="818388"/>
          </a:xfrm>
        </p:spPr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832DF4-387D-4076-B42E-24487C947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65" y="462534"/>
            <a:ext cx="7195278" cy="5932932"/>
          </a:xfrm>
        </p:spPr>
      </p:pic>
    </p:spTree>
    <p:extLst>
      <p:ext uri="{BB962C8B-B14F-4D97-AF65-F5344CB8AC3E}">
        <p14:creationId xmlns:p14="http://schemas.microsoft.com/office/powerpoint/2010/main" val="2191069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D36C-9E4B-476F-AC15-C597C7C2A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Elicitation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6A1D72-5045-437B-8F4B-DF9193C2C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775916"/>
            <a:ext cx="8666475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 focused on people involved in collaborative and individual work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Areas included students, freelancers, contractors and creative/collaborative work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interview was conducted with a small startup company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 were compared with the comparative technology study </a:t>
            </a:r>
          </a:p>
        </p:txBody>
      </p:sp>
    </p:spTree>
    <p:extLst>
      <p:ext uri="{BB962C8B-B14F-4D97-AF65-F5344CB8AC3E}">
        <p14:creationId xmlns:p14="http://schemas.microsoft.com/office/powerpoint/2010/main" val="2126503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6C51-1499-4C47-ABF8-E711269E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Elicitation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7E483C-F3C4-48B2-875B-D92D8F07B8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3752" y="2748484"/>
            <a:ext cx="9576981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need a personal workspace alongside collaborative project spaces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management needs to include dependencies, deadlines and progress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hours and progress should be connected to the work being completed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requires comments, shared workspaces, notifications and controlled access </a:t>
            </a:r>
          </a:p>
        </p:txBody>
      </p:sp>
    </p:spTree>
    <p:extLst>
      <p:ext uri="{BB962C8B-B14F-4D97-AF65-F5344CB8AC3E}">
        <p14:creationId xmlns:p14="http://schemas.microsoft.com/office/powerpoint/2010/main" val="286711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D026-14EB-4275-AA37-927D4B95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Rquirements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B48D-8C8D-4738-8724-1A324E211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/>
              <a:t>Personal &amp; Task Management</a:t>
            </a:r>
          </a:p>
          <a:p>
            <a:pPr>
              <a:lnSpc>
                <a:spcPct val="250000"/>
              </a:lnSpc>
            </a:pPr>
            <a:r>
              <a:rPr lang="en-US" dirty="0"/>
              <a:t>Progress &amp; Work Hours</a:t>
            </a:r>
          </a:p>
          <a:p>
            <a:pPr>
              <a:lnSpc>
                <a:spcPct val="250000"/>
              </a:lnSpc>
            </a:pPr>
            <a:r>
              <a:rPr lang="en-US" dirty="0"/>
              <a:t>Collaboration</a:t>
            </a:r>
          </a:p>
          <a:p>
            <a:pPr>
              <a:lnSpc>
                <a:spcPct val="250000"/>
              </a:lnSpc>
            </a:pPr>
            <a:r>
              <a:rPr lang="en-US" dirty="0"/>
              <a:t>Access &amp; Evidence</a:t>
            </a:r>
          </a:p>
        </p:txBody>
      </p:sp>
    </p:spTree>
    <p:extLst>
      <p:ext uri="{BB962C8B-B14F-4D97-AF65-F5344CB8AC3E}">
        <p14:creationId xmlns:p14="http://schemas.microsoft.com/office/powerpoint/2010/main" val="3203471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62FE-5950-414B-9E2C-52AF699E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Domains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6EF7F6-C030-4711-A4B3-F9F755EDD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449988"/>
            <a:ext cx="4618700" cy="34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Identity &amp; Access Management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Lifecycle &amp; Context Aggregation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&amp; Dynamic Timeline Engine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Workload Capacity &amp; SLA Effort Tracking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&amp; Performance Metrics Engine </a:t>
            </a:r>
          </a:p>
        </p:txBody>
      </p:sp>
    </p:spTree>
    <p:extLst>
      <p:ext uri="{BB962C8B-B14F-4D97-AF65-F5344CB8AC3E}">
        <p14:creationId xmlns:p14="http://schemas.microsoft.com/office/powerpoint/2010/main" val="291734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9BB4B-D983-4001-BC34-A4799546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C51022-6E16-4E6B-A3BB-5744DA5C70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3752" y="1750335"/>
            <a:ext cx="10058400" cy="3357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71400" lvl="8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         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of Diagrams:</a:t>
            </a:r>
            <a:endParaRPr kumimoji="0" lang="en-US" altLang="en-US" sz="1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Architecture Diagram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Entity Relation Diagram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Diagram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Use Case Diagram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275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D546-CA73-45D0-A0A6-D15FEF08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54BDD3-C15D-47B4-8319-C7563043D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894004"/>
            <a:ext cx="7316555" cy="5069992"/>
          </a:xfrm>
        </p:spPr>
      </p:pic>
    </p:spTree>
    <p:extLst>
      <p:ext uri="{BB962C8B-B14F-4D97-AF65-F5344CB8AC3E}">
        <p14:creationId xmlns:p14="http://schemas.microsoft.com/office/powerpoint/2010/main" val="180538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E563-F49D-4383-BC03-D03DEAD6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322A46-749E-489B-8891-33C283C40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873" y="505291"/>
            <a:ext cx="5215063" cy="5847418"/>
          </a:xfrm>
        </p:spPr>
      </p:pic>
    </p:spTree>
    <p:extLst>
      <p:ext uri="{BB962C8B-B14F-4D97-AF65-F5344CB8AC3E}">
        <p14:creationId xmlns:p14="http://schemas.microsoft.com/office/powerpoint/2010/main" val="3930188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AAEC-900E-4607-9FA9-DBD77A0F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06D310-418A-498E-844F-F10C80D57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435" y="638287"/>
            <a:ext cx="2751161" cy="5248928"/>
          </a:xfrm>
        </p:spPr>
      </p:pic>
    </p:spTree>
    <p:extLst>
      <p:ext uri="{BB962C8B-B14F-4D97-AF65-F5344CB8AC3E}">
        <p14:creationId xmlns:p14="http://schemas.microsoft.com/office/powerpoint/2010/main" val="603789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3FDF5-2F72-4603-A666-73A705D2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D25131-D8A4-48D8-A3D4-657202F5C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87" y="1094966"/>
            <a:ext cx="6711950" cy="4668067"/>
          </a:xfrm>
        </p:spPr>
      </p:pic>
    </p:spTree>
    <p:extLst>
      <p:ext uri="{BB962C8B-B14F-4D97-AF65-F5344CB8AC3E}">
        <p14:creationId xmlns:p14="http://schemas.microsoft.com/office/powerpoint/2010/main" val="2448923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93F9-CF2B-48B3-BC25-2F0FF515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Tech Stack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62EE6C-B119-4116-8BEB-B404F8685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247035"/>
              </p:ext>
            </p:extLst>
          </p:nvPr>
        </p:nvGraphicFramePr>
        <p:xfrm>
          <a:off x="1063752" y="2093976"/>
          <a:ext cx="9196354" cy="4051787"/>
        </p:xfrm>
        <a:graphic>
          <a:graphicData uri="http://schemas.openxmlformats.org/drawingml/2006/table">
            <a:tbl>
              <a:tblPr/>
              <a:tblGrid>
                <a:gridCol w="4598177">
                  <a:extLst>
                    <a:ext uri="{9D8B030D-6E8A-4147-A177-3AD203B41FA5}">
                      <a16:colId xmlns:a16="http://schemas.microsoft.com/office/drawing/2014/main" val="3559121290"/>
                    </a:ext>
                  </a:extLst>
                </a:gridCol>
                <a:gridCol w="4598177">
                  <a:extLst>
                    <a:ext uri="{9D8B030D-6E8A-4147-A177-3AD203B41FA5}">
                      <a16:colId xmlns:a16="http://schemas.microsoft.com/office/drawing/2014/main" val="183285802"/>
                    </a:ext>
                  </a:extLst>
                </a:gridCol>
              </a:tblGrid>
              <a:tr h="344791">
                <a:tc>
                  <a:txBody>
                    <a:bodyPr/>
                    <a:lstStyle/>
                    <a:p>
                      <a:r>
                        <a:rPr lang="en-US" sz="1700"/>
                        <a:t>Layer</a:t>
                      </a:r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Technology</a:t>
                      </a:r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711979"/>
                  </a:ext>
                </a:extLst>
              </a:tr>
              <a:tr h="861979">
                <a:tc>
                  <a:txBody>
                    <a:bodyPr/>
                    <a:lstStyle/>
                    <a:p>
                      <a:r>
                        <a:rPr lang="en-US" sz="1700" b="1" dirty="0"/>
                        <a:t>Frontend</a:t>
                      </a:r>
                      <a:endParaRPr lang="en-US" sz="1700" dirty="0"/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700" b="1" dirty="0"/>
                        <a:t>HTML5 + CSS3 + JavaScript (ES Modules)</a:t>
                      </a:r>
                      <a:endParaRPr lang="fr-FR" sz="1700" dirty="0"/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604399"/>
                  </a:ext>
                </a:extLst>
              </a:tr>
              <a:tr h="861979">
                <a:tc>
                  <a:txBody>
                    <a:bodyPr/>
                    <a:lstStyle/>
                    <a:p>
                      <a:r>
                        <a:rPr lang="en-US" sz="1700" b="1"/>
                        <a:t>Backend</a:t>
                      </a:r>
                      <a:endParaRPr lang="en-US" sz="1700"/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Node.js + Express-style HTTP routing</a:t>
                      </a:r>
                      <a:endParaRPr lang="en-US" sz="1700" dirty="0"/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577118"/>
                  </a:ext>
                </a:extLst>
              </a:tr>
              <a:tr h="1379166">
                <a:tc>
                  <a:txBody>
                    <a:bodyPr/>
                    <a:lstStyle/>
                    <a:p>
                      <a:r>
                        <a:rPr lang="en-US" sz="1700" b="1"/>
                        <a:t>Database</a:t>
                      </a:r>
                      <a:endParaRPr lang="en-US" sz="1700"/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MySQL 8.x</a:t>
                      </a:r>
                      <a:endParaRPr lang="en-US" sz="1700" dirty="0"/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261398"/>
                  </a:ext>
                </a:extLst>
              </a:tr>
              <a:tr h="603385">
                <a:tc>
                  <a:txBody>
                    <a:bodyPr/>
                    <a:lstStyle/>
                    <a:p>
                      <a:r>
                        <a:rPr lang="en-US" sz="1700" b="1"/>
                        <a:t>Communication / Networking</a:t>
                      </a:r>
                      <a:endParaRPr lang="en-US" sz="1700"/>
                    </a:p>
                  </a:txBody>
                  <a:tcPr marL="86198" marR="86198" marT="43099" marB="4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HTTP/REST API + JSON + session cookies</a:t>
                      </a:r>
                      <a:endParaRPr lang="en-US" sz="1700" dirty="0"/>
                    </a:p>
                  </a:txBody>
                  <a:tcPr marL="86198" marR="86198" marT="43099" marB="43099" anchor="ctr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1700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335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67C3-6D6E-4475-8EBF-49268E39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Mock Ups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E5A8E0-18F3-4B36-A52F-06D4259CF4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219846"/>
            <a:ext cx="10058400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Page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Home Page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Page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Page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Project Contributor Page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5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C66415-1492-4BAB-86E4-85BAECF0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2560320"/>
            <a:ext cx="3200400" cy="868680"/>
          </a:xfrm>
        </p:spPr>
        <p:txBody>
          <a:bodyPr/>
          <a:lstStyle/>
          <a:p>
            <a:r>
              <a:rPr lang="en-US" dirty="0"/>
              <a:t>Login Page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8A118F-0D4D-4572-AEE3-885A0F7FB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32448"/>
            <a:ext cx="6711950" cy="4993104"/>
          </a:xfrm>
        </p:spPr>
      </p:pic>
    </p:spTree>
    <p:extLst>
      <p:ext uri="{BB962C8B-B14F-4D97-AF65-F5344CB8AC3E}">
        <p14:creationId xmlns:p14="http://schemas.microsoft.com/office/powerpoint/2010/main" val="727663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E84898-AA01-467D-83CA-FEB09F7B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7281" y="2666999"/>
            <a:ext cx="3200400" cy="762000"/>
          </a:xfrm>
        </p:spPr>
        <p:txBody>
          <a:bodyPr/>
          <a:lstStyle/>
          <a:p>
            <a:r>
              <a:rPr lang="en-US" dirty="0"/>
              <a:t>Home Page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5D2AB9-E1E4-4F61-B917-492319BA2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624839"/>
            <a:ext cx="7953523" cy="5608319"/>
          </a:xfrm>
        </p:spPr>
      </p:pic>
    </p:spTree>
    <p:extLst>
      <p:ext uri="{BB962C8B-B14F-4D97-AF65-F5344CB8AC3E}">
        <p14:creationId xmlns:p14="http://schemas.microsoft.com/office/powerpoint/2010/main" val="4238499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34532-1560-4BB7-B937-C3D51B8D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320" y="2509837"/>
            <a:ext cx="3200400" cy="685800"/>
          </a:xfrm>
        </p:spPr>
        <p:txBody>
          <a:bodyPr/>
          <a:lstStyle/>
          <a:p>
            <a:r>
              <a:rPr lang="en-US" dirty="0"/>
              <a:t>Tasks Page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60B22E-19E2-4D07-B847-7B5440416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40882"/>
            <a:ext cx="7010400" cy="5576235"/>
          </a:xfrm>
        </p:spPr>
      </p:pic>
    </p:spTree>
    <p:extLst>
      <p:ext uri="{BB962C8B-B14F-4D97-AF65-F5344CB8AC3E}">
        <p14:creationId xmlns:p14="http://schemas.microsoft.com/office/powerpoint/2010/main" val="2336139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6850DF-037C-4809-A29F-F0469D03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0" y="2453640"/>
            <a:ext cx="3200400" cy="975360"/>
          </a:xfrm>
        </p:spPr>
        <p:txBody>
          <a:bodyPr/>
          <a:lstStyle/>
          <a:p>
            <a:r>
              <a:rPr lang="en-US" dirty="0"/>
              <a:t>Analytics Page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DA49C0-7169-4ED2-961F-71B65852D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855075"/>
            <a:ext cx="7467204" cy="5147850"/>
          </a:xfrm>
        </p:spPr>
      </p:pic>
    </p:spTree>
    <p:extLst>
      <p:ext uri="{BB962C8B-B14F-4D97-AF65-F5344CB8AC3E}">
        <p14:creationId xmlns:p14="http://schemas.microsoft.com/office/powerpoint/2010/main" val="1527877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82A2F5-CF04-4CE6-B1F7-16136421B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9088" y="2406377"/>
            <a:ext cx="3200400" cy="1022623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Contributors</a:t>
            </a:r>
            <a:br>
              <a:rPr lang="en-US" dirty="0"/>
            </a:br>
            <a:r>
              <a:rPr lang="en-US" dirty="0"/>
              <a:t>Page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C2C943A-CC5E-4295-B1DF-B667F5D2E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40136"/>
            <a:ext cx="7208520" cy="5777728"/>
          </a:xfrm>
        </p:spPr>
      </p:pic>
    </p:spTree>
    <p:extLst>
      <p:ext uri="{BB962C8B-B14F-4D97-AF65-F5344CB8AC3E}">
        <p14:creationId xmlns:p14="http://schemas.microsoft.com/office/powerpoint/2010/main" val="750258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5DC4-1DFD-4FC6-A884-9A5E62D1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130F10-A9D9-48A0-B66B-AABF0F5910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760152"/>
            <a:ext cx="9887712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Methodology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Design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System Implementation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7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2A042D-321B-4746-83A3-B71D8C10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Q &amp; A</a:t>
            </a:r>
          </a:p>
        </p:txBody>
      </p:sp>
    </p:spTree>
    <p:extLst>
      <p:ext uri="{BB962C8B-B14F-4D97-AF65-F5344CB8AC3E}">
        <p14:creationId xmlns:p14="http://schemas.microsoft.com/office/powerpoint/2010/main" val="2648735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641</TotalTime>
  <Words>571</Words>
  <Application>Microsoft Office PowerPoint</Application>
  <PresentationFormat>Widescreen</PresentationFormat>
  <Paragraphs>152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Georgia</vt:lpstr>
      <vt:lpstr>Trebuchet MS</vt:lpstr>
      <vt:lpstr>Wingdings</vt:lpstr>
      <vt:lpstr>Wood Type</vt:lpstr>
      <vt:lpstr>WPMS Progress Presentation</vt:lpstr>
      <vt:lpstr>  Table Of Contents</vt:lpstr>
      <vt:lpstr>Project Context</vt:lpstr>
      <vt:lpstr>Problem Statement</vt:lpstr>
      <vt:lpstr>Motivation</vt:lpstr>
      <vt:lpstr>AIMS</vt:lpstr>
      <vt:lpstr>Objectives</vt:lpstr>
      <vt:lpstr>Systems Investigated </vt:lpstr>
      <vt:lpstr>Feature Comparison</vt:lpstr>
      <vt:lpstr>Technology Comparison</vt:lpstr>
      <vt:lpstr>Literature/Comparative Study Findings</vt:lpstr>
      <vt:lpstr>Methodology</vt:lpstr>
      <vt:lpstr>Gantt Chart</vt:lpstr>
      <vt:lpstr>Requirements Elicitation</vt:lpstr>
      <vt:lpstr>Elicitation Findings</vt:lpstr>
      <vt:lpstr>System Rquirements</vt:lpstr>
      <vt:lpstr>Problem Domains</vt:lpstr>
      <vt:lpstr>System Design</vt:lpstr>
      <vt:lpstr>System Architecture Diagram</vt:lpstr>
      <vt:lpstr>Entity Relation Diagram</vt:lpstr>
      <vt:lpstr>Activity Diagram</vt:lpstr>
      <vt:lpstr>Use Case Diagram </vt:lpstr>
      <vt:lpstr>Implementation: Tech Stack</vt:lpstr>
      <vt:lpstr>Implementation: Mock Ups</vt:lpstr>
      <vt:lpstr>Login Page</vt:lpstr>
      <vt:lpstr>Home Page</vt:lpstr>
      <vt:lpstr>Tasks Page</vt:lpstr>
      <vt:lpstr>Analytics Page</vt:lpstr>
      <vt:lpstr>Project Contributors Page</vt:lpstr>
      <vt:lpstr>Summary</vt:lpstr>
      <vt:lpstr>    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WPMS Progress Presentation</dc:title>
  <dc:creator>LENOVO</dc:creator>
  <cp:lastModifiedBy>LENOVO</cp:lastModifiedBy>
  <cp:revision>25</cp:revision>
  <dcterms:created xsi:type="dcterms:W3CDTF">2026-09-19T07:32:28Z</dcterms:created>
  <dcterms:modified xsi:type="dcterms:W3CDTF">2026-10-01T23:29:10Z</dcterms:modified>
</cp:coreProperties>
</file>